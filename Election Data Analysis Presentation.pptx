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Poppins Bold" charset="1" panose="00000800000000000000"/>
      <p:regular r:id="rId26"/>
    </p:embeddedFont>
    <p:embeddedFont>
      <p:font typeface="Canva Sans" charset="1" panose="020B0503030501040103"/>
      <p:regular r:id="rId27"/>
    </p:embeddedFont>
    <p:embeddedFont>
      <p:font typeface="Poppins" charset="1" panose="00000500000000000000"/>
      <p:regular r:id="rId28"/>
    </p:embeddedFont>
    <p:embeddedFont>
      <p:font typeface="Poppins Bold Italics" charset="1" panose="000008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D1FF">
                    <a:alpha val="82000"/>
                  </a:srgbClr>
                </a:gs>
                <a:gs pos="50000">
                  <a:srgbClr val="001496">
                    <a:alpha val="82000"/>
                  </a:srgbClr>
                </a:gs>
                <a:gs pos="100000">
                  <a:srgbClr val="000F70">
                    <a:alpha val="82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594739" y="1594239"/>
            <a:ext cx="7098522" cy="7098522"/>
          </a:xfrm>
          <a:custGeom>
            <a:avLst/>
            <a:gdLst/>
            <a:ahLst/>
            <a:cxnLst/>
            <a:rect r="r" b="b" t="t" l="l"/>
            <a:pathLst>
              <a:path h="7098522" w="7098522">
                <a:moveTo>
                  <a:pt x="0" y="0"/>
                </a:moveTo>
                <a:lnTo>
                  <a:pt x="7098522" y="0"/>
                </a:lnTo>
                <a:lnTo>
                  <a:pt x="7098522" y="7098522"/>
                </a:lnTo>
                <a:lnTo>
                  <a:pt x="0" y="70985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97980" y="1308489"/>
            <a:ext cx="15085689" cy="3575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ElectViz Election Data Visualization for Media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23484" y="4924742"/>
            <a:ext cx="12556801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6" indent="-442593" lvl="1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Tools Used: Power BI, DAX, Data Modeling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78609" y="6603611"/>
            <a:ext cx="9525589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Presented by: VAISHNAVI.C.S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Institution: INFOSYS VIRTUAL INTERNSHIP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451035" y="1837539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51077" y="2203208"/>
            <a:ext cx="8487068" cy="1326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14"/>
              </a:lnSpc>
            </a:pPr>
            <a:r>
              <a:rPr lang="en-US" sz="905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957419"/>
            <a:ext cx="12054106" cy="358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8361" indent="-434181" lvl="1">
              <a:lnSpc>
                <a:spcPts val="5630"/>
              </a:lnSpc>
              <a:buFont typeface="Arial"/>
              <a:buChar char="•"/>
            </a:pPr>
            <a:r>
              <a:rPr lang="en-US" sz="40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Elections generate large volumes of data.</a:t>
            </a:r>
          </a:p>
          <a:p>
            <a:pPr algn="just" marL="868361" indent="-434181" lvl="1">
              <a:lnSpc>
                <a:spcPts val="5630"/>
              </a:lnSpc>
              <a:buFont typeface="Arial"/>
              <a:buChar char="•"/>
            </a:pPr>
            <a:r>
              <a:rPr lang="en-US" sz="40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Manual analysis is time-consuming.</a:t>
            </a:r>
          </a:p>
          <a:p>
            <a:pPr algn="just" marL="868361" indent="-434181" lvl="1">
              <a:lnSpc>
                <a:spcPts val="5630"/>
              </a:lnSpc>
              <a:buFont typeface="Arial"/>
              <a:buChar char="•"/>
            </a:pPr>
            <a:r>
              <a:rPr lang="en-US" sz="40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visualization simplifies interpretation.</a:t>
            </a:r>
          </a:p>
          <a:p>
            <a:pPr algn="just" marL="868361" indent="-434181" lvl="1">
              <a:lnSpc>
                <a:spcPts val="5630"/>
              </a:lnSpc>
              <a:buFont typeface="Arial"/>
              <a:buChar char="•"/>
            </a:pPr>
            <a:r>
              <a:rPr lang="en-US" sz="40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Dashboards enable interactive exploration.</a:t>
            </a:r>
          </a:p>
          <a:p>
            <a:pPr algn="just">
              <a:lnSpc>
                <a:spcPts val="563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94512" y="2520315"/>
            <a:ext cx="5961378" cy="6318882"/>
            <a:chOff x="0" y="0"/>
            <a:chExt cx="923573" cy="978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3573" cy="978960"/>
            </a:xfrm>
            <a:custGeom>
              <a:avLst/>
              <a:gdLst/>
              <a:ahLst/>
              <a:cxnLst/>
              <a:rect r="r" b="b" t="t" l="l"/>
              <a:pathLst>
                <a:path h="978960" w="923573">
                  <a:moveTo>
                    <a:pt x="103894" y="0"/>
                  </a:moveTo>
                  <a:lnTo>
                    <a:pt x="819679" y="0"/>
                  </a:lnTo>
                  <a:cubicBezTo>
                    <a:pt x="847233" y="0"/>
                    <a:pt x="873659" y="10946"/>
                    <a:pt x="893143" y="30430"/>
                  </a:cubicBezTo>
                  <a:cubicBezTo>
                    <a:pt x="912627" y="49914"/>
                    <a:pt x="923573" y="76340"/>
                    <a:pt x="923573" y="103894"/>
                  </a:cubicBezTo>
                  <a:lnTo>
                    <a:pt x="923573" y="875066"/>
                  </a:lnTo>
                  <a:cubicBezTo>
                    <a:pt x="923573" y="902620"/>
                    <a:pt x="912627" y="929046"/>
                    <a:pt x="893143" y="948530"/>
                  </a:cubicBezTo>
                  <a:cubicBezTo>
                    <a:pt x="873659" y="968014"/>
                    <a:pt x="847233" y="978960"/>
                    <a:pt x="819679" y="978960"/>
                  </a:cubicBezTo>
                  <a:lnTo>
                    <a:pt x="103894" y="978960"/>
                  </a:lnTo>
                  <a:cubicBezTo>
                    <a:pt x="76340" y="978960"/>
                    <a:pt x="49914" y="968014"/>
                    <a:pt x="30430" y="948530"/>
                  </a:cubicBezTo>
                  <a:cubicBezTo>
                    <a:pt x="10946" y="929046"/>
                    <a:pt x="0" y="902620"/>
                    <a:pt x="0" y="875066"/>
                  </a:cubicBezTo>
                  <a:lnTo>
                    <a:pt x="0" y="103894"/>
                  </a:lnTo>
                  <a:cubicBezTo>
                    <a:pt x="0" y="76340"/>
                    <a:pt x="10946" y="49914"/>
                    <a:pt x="30430" y="30430"/>
                  </a:cubicBezTo>
                  <a:cubicBezTo>
                    <a:pt x="49914" y="10946"/>
                    <a:pt x="76340" y="0"/>
                    <a:pt x="103894" y="0"/>
                  </a:cubicBezTo>
                  <a:close/>
                </a:path>
              </a:pathLst>
            </a:custGeom>
            <a:blipFill>
              <a:blip r:embed="rId3"/>
              <a:stretch>
                <a:fillRect l="-29547" t="0" r="-29547" b="0"/>
              </a:stretch>
            </a:blipFill>
            <a:ln w="323850" cap="rnd">
              <a:gradFill>
                <a:gsLst>
                  <a:gs pos="0">
                    <a:srgbClr val="00D1FF">
                      <a:alpha val="100000"/>
                    </a:srgbClr>
                  </a:gs>
                  <a:gs pos="100000">
                    <a:srgbClr val="001496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465286" y="7200900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463143" y="1076325"/>
            <a:ext cx="11731939" cy="133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414"/>
              </a:lnSpc>
            </a:pPr>
            <a:r>
              <a:rPr lang="en-US" sz="905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29515" y="3072130"/>
            <a:ext cx="9853504" cy="2885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8873" indent="-354436" lvl="1">
              <a:lnSpc>
                <a:spcPts val="4596"/>
              </a:lnSpc>
              <a:buFont typeface="Arial"/>
              <a:buChar char="•"/>
            </a:pPr>
            <a:r>
              <a:rPr lang="en-US" sz="32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Raw election data is difficult to interpret</a:t>
            </a:r>
          </a:p>
          <a:p>
            <a:pPr algn="l" marL="708873" indent="-354436" lvl="1">
              <a:lnSpc>
                <a:spcPts val="4596"/>
              </a:lnSpc>
              <a:buFont typeface="Arial"/>
              <a:buChar char="•"/>
            </a:pPr>
            <a:r>
              <a:rPr lang="en-US" sz="32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centralized visual reporting</a:t>
            </a:r>
          </a:p>
          <a:p>
            <a:pPr algn="l" marL="708873" indent="-354436" lvl="1">
              <a:lnSpc>
                <a:spcPts val="4596"/>
              </a:lnSpc>
              <a:buFont typeface="Arial"/>
              <a:buChar char="•"/>
            </a:pPr>
            <a:r>
              <a:rPr lang="en-US" sz="32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Hard to compare party and region performance</a:t>
            </a:r>
          </a:p>
          <a:p>
            <a:pPr algn="l" marL="708873" indent="-354436" lvl="1">
              <a:lnSpc>
                <a:spcPts val="4596"/>
              </a:lnSpc>
              <a:buFont typeface="Arial"/>
              <a:buChar char="•"/>
            </a:pPr>
            <a:r>
              <a:rPr lang="en-US" sz="32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Lack of interactive filtering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94512" y="2520315"/>
            <a:ext cx="5961378" cy="6318882"/>
            <a:chOff x="0" y="0"/>
            <a:chExt cx="923573" cy="978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3573" cy="978960"/>
            </a:xfrm>
            <a:custGeom>
              <a:avLst/>
              <a:gdLst/>
              <a:ahLst/>
              <a:cxnLst/>
              <a:rect r="r" b="b" t="t" l="l"/>
              <a:pathLst>
                <a:path h="978960" w="923573">
                  <a:moveTo>
                    <a:pt x="103894" y="0"/>
                  </a:moveTo>
                  <a:lnTo>
                    <a:pt x="819679" y="0"/>
                  </a:lnTo>
                  <a:cubicBezTo>
                    <a:pt x="847233" y="0"/>
                    <a:pt x="873659" y="10946"/>
                    <a:pt x="893143" y="30430"/>
                  </a:cubicBezTo>
                  <a:cubicBezTo>
                    <a:pt x="912627" y="49914"/>
                    <a:pt x="923573" y="76340"/>
                    <a:pt x="923573" y="103894"/>
                  </a:cubicBezTo>
                  <a:lnTo>
                    <a:pt x="923573" y="875066"/>
                  </a:lnTo>
                  <a:cubicBezTo>
                    <a:pt x="923573" y="902620"/>
                    <a:pt x="912627" y="929046"/>
                    <a:pt x="893143" y="948530"/>
                  </a:cubicBezTo>
                  <a:cubicBezTo>
                    <a:pt x="873659" y="968014"/>
                    <a:pt x="847233" y="978960"/>
                    <a:pt x="819679" y="978960"/>
                  </a:cubicBezTo>
                  <a:lnTo>
                    <a:pt x="103894" y="978960"/>
                  </a:lnTo>
                  <a:cubicBezTo>
                    <a:pt x="76340" y="978960"/>
                    <a:pt x="49914" y="968014"/>
                    <a:pt x="30430" y="948530"/>
                  </a:cubicBezTo>
                  <a:cubicBezTo>
                    <a:pt x="10946" y="929046"/>
                    <a:pt x="0" y="902620"/>
                    <a:pt x="0" y="875066"/>
                  </a:cubicBezTo>
                  <a:lnTo>
                    <a:pt x="0" y="103894"/>
                  </a:lnTo>
                  <a:cubicBezTo>
                    <a:pt x="0" y="76340"/>
                    <a:pt x="10946" y="49914"/>
                    <a:pt x="30430" y="30430"/>
                  </a:cubicBezTo>
                  <a:cubicBezTo>
                    <a:pt x="49914" y="10946"/>
                    <a:pt x="76340" y="0"/>
                    <a:pt x="103894" y="0"/>
                  </a:cubicBezTo>
                  <a:close/>
                </a:path>
              </a:pathLst>
            </a:custGeom>
            <a:blipFill>
              <a:blip r:embed="rId3"/>
              <a:stretch>
                <a:fillRect l="-29547" t="0" r="-29547" b="0"/>
              </a:stretch>
            </a:blipFill>
            <a:ln w="323850" cap="rnd">
              <a:gradFill>
                <a:gsLst>
                  <a:gs pos="0">
                    <a:srgbClr val="00D1FF">
                      <a:alpha val="100000"/>
                    </a:srgbClr>
                  </a:gs>
                  <a:gs pos="100000">
                    <a:srgbClr val="001496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465286" y="7200900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947976" y="1076325"/>
            <a:ext cx="10247106" cy="133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414"/>
              </a:lnSpc>
            </a:pPr>
            <a:r>
              <a:rPr lang="en-US" sz="905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Objective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29515" y="3072130"/>
            <a:ext cx="9603410" cy="562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analyze election data effectively.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visualize voting trends and party performance.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create interactive and user-friendly reports.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help in data-driven political analysis.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Compare party-wise performance.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Identify regional voting trends.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Measure voter turnout.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 an interactive reporting system.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179993" y="3074734"/>
            <a:ext cx="7079307" cy="4137532"/>
          </a:xfrm>
          <a:custGeom>
            <a:avLst/>
            <a:gdLst/>
            <a:ahLst/>
            <a:cxnLst/>
            <a:rect r="r" b="b" t="t" l="l"/>
            <a:pathLst>
              <a:path h="4137532" w="7079307">
                <a:moveTo>
                  <a:pt x="0" y="0"/>
                </a:moveTo>
                <a:lnTo>
                  <a:pt x="7079307" y="0"/>
                </a:lnTo>
                <a:lnTo>
                  <a:pt x="7079307" y="4137532"/>
                </a:lnTo>
                <a:lnTo>
                  <a:pt x="0" y="4137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848" t="-3390" r="-6848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78001" y="1280917"/>
            <a:ext cx="9468974" cy="1326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14"/>
              </a:lnSpc>
            </a:pPr>
            <a:r>
              <a:rPr lang="en-US" sz="905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About Power BI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8001" y="3514725"/>
            <a:ext cx="8775633" cy="349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Business Intelligence Tool</a:t>
            </a:r>
          </a:p>
          <a:p>
            <a:pPr algn="just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Cleaning using Power Query</a:t>
            </a:r>
          </a:p>
          <a:p>
            <a:pPr algn="just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Advanced Calculations using DAX</a:t>
            </a:r>
          </a:p>
          <a:p>
            <a:pPr algn="just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Interactive Visualizations</a:t>
            </a:r>
          </a:p>
          <a:p>
            <a:pPr algn="just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Real-time Data Capability</a:t>
            </a:r>
          </a:p>
          <a:p>
            <a:pPr algn="just">
              <a:lnSpc>
                <a:spcPts val="46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87326" y="3548183"/>
            <a:ext cx="6502772" cy="4640644"/>
          </a:xfrm>
          <a:custGeom>
            <a:avLst/>
            <a:gdLst/>
            <a:ahLst/>
            <a:cxnLst/>
            <a:rect r="r" b="b" t="t" l="l"/>
            <a:pathLst>
              <a:path h="4640644" w="6502772">
                <a:moveTo>
                  <a:pt x="0" y="0"/>
                </a:moveTo>
                <a:lnTo>
                  <a:pt x="6502773" y="0"/>
                </a:lnTo>
                <a:lnTo>
                  <a:pt x="6502773" y="4640644"/>
                </a:lnTo>
                <a:lnTo>
                  <a:pt x="0" y="46406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694" t="0" r="-4169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550902" y="2540623"/>
            <a:ext cx="8708398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includes: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50902" y="3948361"/>
            <a:ext cx="7278421" cy="511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Candidate Name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Political Party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Constituency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Votes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Winning Status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Vote Margin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Voter Turnout %</a:t>
            </a:r>
          </a:p>
          <a:p>
            <a:pPr algn="just">
              <a:lnSpc>
                <a:spcPts val="504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4838712" y="920633"/>
            <a:ext cx="13291279" cy="159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0"/>
              </a:lnSpc>
            </a:pPr>
            <a:r>
              <a:rPr lang="en-US" sz="1081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Overview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88689" y="4090399"/>
            <a:ext cx="7576752" cy="2150629"/>
          </a:xfrm>
          <a:custGeom>
            <a:avLst/>
            <a:gdLst/>
            <a:ahLst/>
            <a:cxnLst/>
            <a:rect r="r" b="b" t="t" l="l"/>
            <a:pathLst>
              <a:path h="2150629" w="7576752">
                <a:moveTo>
                  <a:pt x="0" y="0"/>
                </a:moveTo>
                <a:lnTo>
                  <a:pt x="7576752" y="0"/>
                </a:lnTo>
                <a:lnTo>
                  <a:pt x="7576752" y="2150629"/>
                </a:lnTo>
                <a:lnTo>
                  <a:pt x="0" y="2150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951" t="0" r="-3866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550902" y="3948361"/>
            <a:ext cx="8109693" cy="448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Created relationships between tables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Implemented Star Schema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Fact Table: Election Results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Dimension Tables: Party, Constituency, Candidate</a:t>
            </a:r>
          </a:p>
          <a:p>
            <a:pPr algn="r">
              <a:lnSpc>
                <a:spcPts val="504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4838712" y="1643318"/>
            <a:ext cx="13291279" cy="159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0"/>
              </a:lnSpc>
            </a:pPr>
            <a:r>
              <a:rPr lang="en-US" sz="1081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MOdeling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69235" y="3467496"/>
            <a:ext cx="8401998" cy="4645177"/>
          </a:xfrm>
          <a:custGeom>
            <a:avLst/>
            <a:gdLst/>
            <a:ahLst/>
            <a:cxnLst/>
            <a:rect r="r" b="b" t="t" l="l"/>
            <a:pathLst>
              <a:path h="4645177" w="8401998">
                <a:moveTo>
                  <a:pt x="0" y="0"/>
                </a:moveTo>
                <a:lnTo>
                  <a:pt x="8401998" y="0"/>
                </a:lnTo>
                <a:lnTo>
                  <a:pt x="8401998" y="4645177"/>
                </a:lnTo>
                <a:lnTo>
                  <a:pt x="0" y="4645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01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971233" y="2150947"/>
            <a:ext cx="9060969" cy="747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Seats: 543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NDA: 347 seats (2019) → 347 seats (2024)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INDIA Alliance: 105 seats (2019) → 105 seats (2024)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Others: 90 seats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BJP ho</a:t>
            </a: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lds the highest vote share in both years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Aver</a:t>
            </a: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 Voter Turnout: 68.15%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Average Winning Margin: 196K votes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Majority seats won with comfortable margins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Overall alliance performance remained stable</a:t>
            </a:r>
          </a:p>
          <a:p>
            <a:pPr algn="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69235" y="252043"/>
            <a:ext cx="17462967" cy="104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7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ELECTION DATA Analysis(2019 vs 2024)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70054" y="2700952"/>
            <a:ext cx="8149824" cy="4486467"/>
          </a:xfrm>
          <a:custGeom>
            <a:avLst/>
            <a:gdLst/>
            <a:ahLst/>
            <a:cxnLst/>
            <a:rect r="r" b="b" t="t" l="l"/>
            <a:pathLst>
              <a:path h="4486467" w="8149824">
                <a:moveTo>
                  <a:pt x="0" y="0"/>
                </a:moveTo>
                <a:lnTo>
                  <a:pt x="8149824" y="0"/>
                </a:lnTo>
                <a:lnTo>
                  <a:pt x="8149824" y="4486468"/>
                </a:lnTo>
                <a:lnTo>
                  <a:pt x="0" y="4486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52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639393" y="2624752"/>
            <a:ext cx="9305719" cy="628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3701" indent="-276851" lvl="1">
              <a:lnSpc>
                <a:spcPts val="3590"/>
              </a:lnSpc>
              <a:buFont typeface="Arial"/>
              <a:buChar char="•"/>
            </a:pPr>
            <a:r>
              <a:rPr lang="en-US" sz="25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Analyzes election trends across different years to understand voting patterns.</a:t>
            </a:r>
          </a:p>
          <a:p>
            <a:pPr algn="just" marL="553701" indent="-276851" lvl="1">
              <a:lnSpc>
                <a:spcPts val="3590"/>
              </a:lnSpc>
              <a:buFont typeface="Arial"/>
              <a:buChar char="•"/>
            </a:pPr>
            <a:r>
              <a:rPr lang="en-US" sz="25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Compares total votes, voter turnout %, and winning margins over time.</a:t>
            </a:r>
          </a:p>
          <a:p>
            <a:pPr algn="just" marL="553701" indent="-276851" lvl="1">
              <a:lnSpc>
                <a:spcPts val="3590"/>
              </a:lnSpc>
              <a:buFont typeface="Arial"/>
              <a:buChar char="•"/>
            </a:pPr>
            <a:r>
              <a:rPr lang="en-US" sz="25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Exam</a:t>
            </a:r>
            <a:r>
              <a:rPr lang="en-US" sz="25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ines seat distribution among major political parties and alliances.</a:t>
            </a:r>
          </a:p>
          <a:p>
            <a:pPr algn="just" marL="553701" indent="-276851" lvl="1">
              <a:lnSpc>
                <a:spcPts val="3590"/>
              </a:lnSpc>
              <a:buFont typeface="Arial"/>
              <a:buChar char="•"/>
            </a:pPr>
            <a:r>
              <a:rPr lang="en-US" sz="25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Identifies changes in voter participation and engagement across elections.</a:t>
            </a:r>
          </a:p>
          <a:p>
            <a:pPr algn="just" marL="553701" indent="-276851" lvl="1">
              <a:lnSpc>
                <a:spcPts val="3590"/>
              </a:lnSpc>
              <a:buFont typeface="Arial"/>
              <a:buChar char="•"/>
            </a:pPr>
            <a:r>
              <a:rPr lang="en-US" sz="25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Visualizes state-wise voting patterns using map insights.</a:t>
            </a:r>
          </a:p>
          <a:p>
            <a:pPr algn="just" marL="553701" indent="-276851" lvl="1">
              <a:lnSpc>
                <a:spcPts val="3590"/>
              </a:lnSpc>
              <a:buFont typeface="Arial"/>
              <a:buChar char="•"/>
            </a:pPr>
            <a:r>
              <a:rPr lang="en-US" sz="25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Shows category-wise seat distribution (GEN, SC, ST).</a:t>
            </a:r>
          </a:p>
          <a:p>
            <a:pPr algn="just" marL="553701" indent="-276851" lvl="1">
              <a:lnSpc>
                <a:spcPts val="3590"/>
              </a:lnSpc>
              <a:buFont typeface="Arial"/>
              <a:buChar char="•"/>
            </a:pPr>
            <a:r>
              <a:rPr lang="en-US" sz="25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Helps identify long-term political shifts and historical election patterns.</a:t>
            </a:r>
          </a:p>
          <a:p>
            <a:pPr algn="just">
              <a:lnSpc>
                <a:spcPts val="359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93354" y="815390"/>
            <a:ext cx="17101292" cy="104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8"/>
              </a:lnSpc>
            </a:pPr>
            <a:r>
              <a:rPr lang="en-US" sz="7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Historical Trends Dashboard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14184" y="3312448"/>
            <a:ext cx="8129860" cy="4168725"/>
          </a:xfrm>
          <a:custGeom>
            <a:avLst/>
            <a:gdLst/>
            <a:ahLst/>
            <a:cxnLst/>
            <a:rect r="r" b="b" t="t" l="l"/>
            <a:pathLst>
              <a:path h="4168725" w="8129860">
                <a:moveTo>
                  <a:pt x="0" y="0"/>
                </a:moveTo>
                <a:lnTo>
                  <a:pt x="8129860" y="0"/>
                </a:lnTo>
                <a:lnTo>
                  <a:pt x="8129860" y="4168724"/>
                </a:lnTo>
                <a:lnTo>
                  <a:pt x="0" y="41687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639393" y="2624752"/>
            <a:ext cx="9305719" cy="6728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3701" indent="-276851" lvl="1">
              <a:lnSpc>
                <a:spcPts val="3590"/>
              </a:lnSpc>
              <a:buFont typeface="Arial"/>
              <a:buChar char="•"/>
            </a:pPr>
            <a:r>
              <a:rPr lang="en-US" sz="25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Live dashboard tracking 543 total seats across India</a:t>
            </a:r>
          </a:p>
          <a:p>
            <a:pPr algn="just" marL="553701" indent="-276851" lvl="1">
              <a:lnSpc>
                <a:spcPts val="3590"/>
              </a:lnSpc>
              <a:buFont typeface="Arial"/>
              <a:buChar char="•"/>
            </a:pPr>
            <a:r>
              <a:rPr lang="en-US" sz="25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NDA leading with 345 seats, followed by INDIA (105) and Others (90)</a:t>
            </a:r>
          </a:p>
          <a:p>
            <a:pPr algn="just" marL="553701" indent="-276851" lvl="1">
              <a:lnSpc>
                <a:spcPts val="3590"/>
              </a:lnSpc>
              <a:buFont typeface="Arial"/>
              <a:buChar char="•"/>
            </a:pPr>
            <a:r>
              <a:rPr lang="en-US" sz="25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Interactive map visualization shows constituency-wise status</a:t>
            </a:r>
          </a:p>
          <a:p>
            <a:pPr algn="just" marL="553701" indent="-276851" lvl="1">
              <a:lnSpc>
                <a:spcPts val="3590"/>
              </a:lnSpc>
              <a:buFont typeface="Arial"/>
              <a:buChar char="•"/>
            </a:pPr>
            <a:r>
              <a:rPr lang="en-US" sz="25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Voter share chart highlights party-wise vote distribution</a:t>
            </a:r>
          </a:p>
          <a:p>
            <a:pPr algn="just" marL="553701" indent="-276851" lvl="1">
              <a:lnSpc>
                <a:spcPts val="3590"/>
              </a:lnSpc>
              <a:buFont typeface="Arial"/>
              <a:buChar char="•"/>
            </a:pPr>
            <a:r>
              <a:rPr lang="en-US" sz="25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State-level trends display total votes by party</a:t>
            </a:r>
          </a:p>
          <a:p>
            <a:pPr algn="just" marL="553701" indent="-276851" lvl="1">
              <a:lnSpc>
                <a:spcPts val="3590"/>
              </a:lnSpc>
              <a:buFont typeface="Arial"/>
              <a:buChar char="•"/>
            </a:pPr>
            <a:r>
              <a:rPr lang="en-US" sz="25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Real-time table updates provide winning candidate details</a:t>
            </a:r>
          </a:p>
          <a:p>
            <a:pPr algn="just">
              <a:lnSpc>
                <a:spcPts val="3590"/>
              </a:lnSpc>
            </a:pPr>
            <a:r>
              <a:rPr lang="en-US" sz="25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➡ Key Insight:</a:t>
            </a:r>
          </a:p>
          <a:p>
            <a:pPr algn="just">
              <a:lnSpc>
                <a:spcPts val="3590"/>
              </a:lnSpc>
            </a:pPr>
            <a:r>
              <a:rPr lang="en-US" sz="25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NDA holds a strong lead with significant dominance across multiple states, as reflected in both seat count and voter share.</a:t>
            </a:r>
          </a:p>
          <a:p>
            <a:pPr algn="just">
              <a:lnSpc>
                <a:spcPts val="359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93354" y="392473"/>
            <a:ext cx="17101292" cy="1984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8"/>
              </a:lnSpc>
            </a:pPr>
            <a:r>
              <a:rPr lang="en-US" sz="7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REAL TIME RESULT ANALYSIS Dashboard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12943" y="3637316"/>
            <a:ext cx="8831057" cy="4999713"/>
          </a:xfrm>
          <a:custGeom>
            <a:avLst/>
            <a:gdLst/>
            <a:ahLst/>
            <a:cxnLst/>
            <a:rect r="r" b="b" t="t" l="l"/>
            <a:pathLst>
              <a:path h="4999713" w="8831057">
                <a:moveTo>
                  <a:pt x="0" y="0"/>
                </a:moveTo>
                <a:lnTo>
                  <a:pt x="8831057" y="0"/>
                </a:lnTo>
                <a:lnTo>
                  <a:pt x="8831057" y="4999713"/>
                </a:lnTo>
                <a:lnTo>
                  <a:pt x="0" y="49997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144000" y="3778404"/>
            <a:ext cx="8708398" cy="503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Votes Polled: 1 Billion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Registered Voters: 2 Billion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Overall Turnout: 68.15% (≈ 2/3 of electorate participated)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Rural/Semi-Urban constituencies form the largest share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State turnout range: ~58% to 85%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Gender participation: Male &amp; Female turnout nearly equal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 distribution: 30–59 years group forms the largest voter base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93354" y="824915"/>
            <a:ext cx="17101292" cy="302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1081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Turnout &amp; Demographic Analysis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83637" y="4053136"/>
            <a:ext cx="8550646" cy="4844143"/>
          </a:xfrm>
          <a:custGeom>
            <a:avLst/>
            <a:gdLst/>
            <a:ahLst/>
            <a:cxnLst/>
            <a:rect r="r" b="b" t="t" l="l"/>
            <a:pathLst>
              <a:path h="4844143" w="8550646">
                <a:moveTo>
                  <a:pt x="0" y="0"/>
                </a:moveTo>
                <a:lnTo>
                  <a:pt x="8550645" y="0"/>
                </a:lnTo>
                <a:lnTo>
                  <a:pt x="8550645" y="4844143"/>
                </a:lnTo>
                <a:lnTo>
                  <a:pt x="0" y="48441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550902" y="3948361"/>
            <a:ext cx="8708398" cy="575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Bar chart showing constituency name by party name.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Pie chart showing voter gap by gender.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scatter chart showing margin by state and total vote polled.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Slicer cards showing geography type and State.</a:t>
            </a:r>
          </a:p>
          <a:p>
            <a:pPr algn="just">
              <a:lnSpc>
                <a:spcPts val="504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93354" y="824915"/>
            <a:ext cx="17101292" cy="302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1081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Party &amp; Candidate Analysis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32544" y="3787799"/>
            <a:ext cx="6804020" cy="5308450"/>
          </a:xfrm>
          <a:custGeom>
            <a:avLst/>
            <a:gdLst/>
            <a:ahLst/>
            <a:cxnLst/>
            <a:rect r="r" b="b" t="t" l="l"/>
            <a:pathLst>
              <a:path h="5308450" w="6804020">
                <a:moveTo>
                  <a:pt x="0" y="0"/>
                </a:moveTo>
                <a:lnTo>
                  <a:pt x="6804020" y="0"/>
                </a:lnTo>
                <a:lnTo>
                  <a:pt x="6804020" y="5308450"/>
                </a:lnTo>
                <a:lnTo>
                  <a:pt x="0" y="53084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080189" y="3740304"/>
            <a:ext cx="10614457" cy="575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State-wise map shows the distribution of winning political parties across India.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Clear regional dom</a:t>
            </a: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inance patterns, with certain parties strong in specific zones.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Some parties have a broader multi-state presence, indi</a:t>
            </a: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cating wider influenc</a:t>
            </a: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e.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Highlights the diverse and region-driven nature of electoral outcomes.</a:t>
            </a:r>
          </a:p>
          <a:p>
            <a:pPr algn="just">
              <a:lnSpc>
                <a:spcPts val="504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93354" y="624890"/>
            <a:ext cx="17101292" cy="302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1081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Geographic Map Visualization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93354" y="4886766"/>
            <a:ext cx="6486835" cy="1539021"/>
          </a:xfrm>
          <a:custGeom>
            <a:avLst/>
            <a:gdLst/>
            <a:ahLst/>
            <a:cxnLst/>
            <a:rect r="r" b="b" t="t" l="l"/>
            <a:pathLst>
              <a:path h="1539021" w="6486835">
                <a:moveTo>
                  <a:pt x="0" y="0"/>
                </a:moveTo>
                <a:lnTo>
                  <a:pt x="6486835" y="0"/>
                </a:lnTo>
                <a:lnTo>
                  <a:pt x="6486835" y="1539021"/>
                </a:lnTo>
                <a:lnTo>
                  <a:pt x="0" y="15390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8237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080189" y="2406347"/>
            <a:ext cx="10614457" cy="639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Geography Type Filter: Enables analysis by Rural, Rural/Semi-Urban, and Urban constituencies.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State Filter: Allows selection of specific states for focused insights.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Supports customized and comparative analysis across regions.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Enhances decision-making through interactive data exploration.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93354" y="624890"/>
            <a:ext cx="17101292" cy="159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1081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 Interactivity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923045" y="2447486"/>
            <a:ext cx="5553836" cy="5553836"/>
          </a:xfrm>
          <a:custGeom>
            <a:avLst/>
            <a:gdLst/>
            <a:ahLst/>
            <a:cxnLst/>
            <a:rect r="r" b="b" t="t" l="l"/>
            <a:pathLst>
              <a:path h="5553836" w="5553836">
                <a:moveTo>
                  <a:pt x="0" y="0"/>
                </a:moveTo>
                <a:lnTo>
                  <a:pt x="5553836" y="0"/>
                </a:lnTo>
                <a:lnTo>
                  <a:pt x="5553836" y="5553836"/>
                </a:lnTo>
                <a:lnTo>
                  <a:pt x="0" y="55538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233613"/>
            <a:ext cx="8487068" cy="251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14"/>
              </a:lnSpc>
            </a:pPr>
            <a:r>
              <a:rPr lang="en-US" sz="905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Insights Derived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144449"/>
            <a:ext cx="9204299" cy="448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Party A secured majority seats</a:t>
            </a:r>
          </a:p>
          <a:p>
            <a:pPr algn="just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Some constituencies had narrow margins</a:t>
            </a:r>
          </a:p>
          <a:p>
            <a:pPr algn="just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Certain regions show high turnout</a:t>
            </a:r>
          </a:p>
          <a:p>
            <a:pPr algn="just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Smaller parties have lower vote share</a:t>
            </a:r>
          </a:p>
          <a:p>
            <a:pPr algn="just">
              <a:lnSpc>
                <a:spcPts val="5039"/>
              </a:lnSpc>
              <a:spcBef>
                <a:spcPct val="0"/>
              </a:spcBef>
            </a:pPr>
          </a:p>
        </p:txBody>
      </p:sp>
      <p:sp>
        <p:nvSpPr>
          <p:cNvPr name="AutoShape 9" id="9"/>
          <p:cNvSpPr/>
          <p:nvPr/>
        </p:nvSpPr>
        <p:spPr>
          <a:xfrm>
            <a:off x="8598915" y="1042987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8455914" y="899987"/>
            <a:ext cx="286001" cy="28600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true" rot="0">
            <a:off x="-3226599" y="8963464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1799360"/>
                </a:moveTo>
                <a:lnTo>
                  <a:pt x="12370599" y="1799360"/>
                </a:lnTo>
                <a:lnTo>
                  <a:pt x="12370599" y="0"/>
                </a:lnTo>
                <a:lnTo>
                  <a:pt x="0" y="0"/>
                </a:lnTo>
                <a:lnTo>
                  <a:pt x="0" y="179936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893260" y="2321103"/>
            <a:ext cx="7045104" cy="5829824"/>
          </a:xfrm>
          <a:custGeom>
            <a:avLst/>
            <a:gdLst/>
            <a:ahLst/>
            <a:cxnLst/>
            <a:rect r="r" b="b" t="t" l="l"/>
            <a:pathLst>
              <a:path h="5829824" w="7045104">
                <a:moveTo>
                  <a:pt x="0" y="0"/>
                </a:moveTo>
                <a:lnTo>
                  <a:pt x="7045104" y="0"/>
                </a:lnTo>
                <a:lnTo>
                  <a:pt x="7045104" y="5829823"/>
                </a:lnTo>
                <a:lnTo>
                  <a:pt x="0" y="58298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061624"/>
            <a:ext cx="9554240" cy="372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inconsistency</a:t>
            </a:r>
          </a:p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Complex DAX formulas</a:t>
            </a:r>
          </a:p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Designing user-friendly layout</a:t>
            </a:r>
          </a:p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Performance optimization</a:t>
            </a:r>
          </a:p>
          <a:p>
            <a:pPr algn="just">
              <a:lnSpc>
                <a:spcPts val="588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24418" y="1551378"/>
            <a:ext cx="13180982" cy="1293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151"/>
              </a:lnSpc>
            </a:pPr>
            <a:r>
              <a:rPr lang="en-US" sz="87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Challenges Faced</a:t>
            </a:r>
          </a:p>
        </p:txBody>
      </p:sp>
      <p:sp>
        <p:nvSpPr>
          <p:cNvPr name="AutoShape 9" id="9"/>
          <p:cNvSpPr/>
          <p:nvPr/>
        </p:nvSpPr>
        <p:spPr>
          <a:xfrm>
            <a:off x="-5590449" y="925830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9984383" y="9115299"/>
            <a:ext cx="286001" cy="28600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893260" y="2321103"/>
            <a:ext cx="7045104" cy="5829824"/>
          </a:xfrm>
          <a:custGeom>
            <a:avLst/>
            <a:gdLst/>
            <a:ahLst/>
            <a:cxnLst/>
            <a:rect r="r" b="b" t="t" l="l"/>
            <a:pathLst>
              <a:path h="5829824" w="7045104">
                <a:moveTo>
                  <a:pt x="0" y="0"/>
                </a:moveTo>
                <a:lnTo>
                  <a:pt x="7045104" y="0"/>
                </a:lnTo>
                <a:lnTo>
                  <a:pt x="7045104" y="5829823"/>
                </a:lnTo>
                <a:lnTo>
                  <a:pt x="0" y="58298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24418" y="4061624"/>
            <a:ext cx="9554240" cy="372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Practical Power BI experience</a:t>
            </a:r>
          </a:p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modeling knowledge</a:t>
            </a:r>
          </a:p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DAX calculation skills</a:t>
            </a:r>
          </a:p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 design principles</a:t>
            </a:r>
          </a:p>
          <a:p>
            <a:pPr algn="just">
              <a:lnSpc>
                <a:spcPts val="588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24418" y="1551378"/>
            <a:ext cx="13180982" cy="1293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151"/>
              </a:lnSpc>
            </a:pPr>
            <a:r>
              <a:rPr lang="en-US" sz="87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Learning Outcomes</a:t>
            </a:r>
          </a:p>
        </p:txBody>
      </p:sp>
      <p:sp>
        <p:nvSpPr>
          <p:cNvPr name="AutoShape 9" id="9"/>
          <p:cNvSpPr/>
          <p:nvPr/>
        </p:nvSpPr>
        <p:spPr>
          <a:xfrm>
            <a:off x="-5590449" y="925830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9984383" y="9115299"/>
            <a:ext cx="286001" cy="28600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D1FF">
                    <a:alpha val="86000"/>
                  </a:srgbClr>
                </a:gs>
                <a:gs pos="50000">
                  <a:srgbClr val="001496">
                    <a:alpha val="86000"/>
                  </a:srgbClr>
                </a:gs>
                <a:gs pos="100000">
                  <a:srgbClr val="000F70">
                    <a:alpha val="86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839908" y="2165933"/>
            <a:ext cx="6608184" cy="6602071"/>
          </a:xfrm>
          <a:custGeom>
            <a:avLst/>
            <a:gdLst/>
            <a:ahLst/>
            <a:cxnLst/>
            <a:rect r="r" b="b" t="t" l="l"/>
            <a:pathLst>
              <a:path h="6602071" w="6608184">
                <a:moveTo>
                  <a:pt x="0" y="0"/>
                </a:moveTo>
                <a:lnTo>
                  <a:pt x="6608184" y="0"/>
                </a:lnTo>
                <a:lnTo>
                  <a:pt x="6608184" y="6602071"/>
                </a:lnTo>
                <a:lnTo>
                  <a:pt x="0" y="66020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36575" y="1774562"/>
            <a:ext cx="15093529" cy="2897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16"/>
              </a:lnSpc>
            </a:pPr>
            <a:r>
              <a:rPr lang="en-US" sz="104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Enhancements</a:t>
            </a:r>
          </a:p>
          <a:p>
            <a:pPr algn="ctr">
              <a:lnSpc>
                <a:spcPts val="1081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434511" y="3903723"/>
            <a:ext cx="10123037" cy="416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Real-time election updates</a:t>
            </a:r>
          </a:p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Predictive analytics</a:t>
            </a:r>
          </a:p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AI-based trend forecasting</a:t>
            </a:r>
          </a:p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Mobile optimization</a:t>
            </a:r>
          </a:p>
          <a:p>
            <a:pPr algn="l">
              <a:lnSpc>
                <a:spcPts val="5880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496029" y="8806749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893260" y="2321103"/>
            <a:ext cx="7045104" cy="5829824"/>
          </a:xfrm>
          <a:custGeom>
            <a:avLst/>
            <a:gdLst/>
            <a:ahLst/>
            <a:cxnLst/>
            <a:rect r="r" b="b" t="t" l="l"/>
            <a:pathLst>
              <a:path h="5829824" w="7045104">
                <a:moveTo>
                  <a:pt x="0" y="0"/>
                </a:moveTo>
                <a:lnTo>
                  <a:pt x="7045104" y="0"/>
                </a:lnTo>
                <a:lnTo>
                  <a:pt x="7045104" y="5829823"/>
                </a:lnTo>
                <a:lnTo>
                  <a:pt x="0" y="58298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317679"/>
            <a:ext cx="10897065" cy="372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Successfully transformed raw data</a:t>
            </a:r>
          </a:p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Built interactive dashboard</a:t>
            </a:r>
          </a:p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Applied DAX &amp; Data Modeling</a:t>
            </a:r>
          </a:p>
          <a:p>
            <a:pPr algn="just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Enabled quick decision-making</a:t>
            </a:r>
          </a:p>
          <a:p>
            <a:pPr algn="just">
              <a:lnSpc>
                <a:spcPts val="588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24418" y="1551378"/>
            <a:ext cx="13180982" cy="1293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151"/>
              </a:lnSpc>
            </a:pPr>
            <a:r>
              <a:rPr lang="en-US" sz="87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AutoShape 9" id="9"/>
          <p:cNvSpPr/>
          <p:nvPr/>
        </p:nvSpPr>
        <p:spPr>
          <a:xfrm>
            <a:off x="-5590449" y="925830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9984383" y="9115299"/>
            <a:ext cx="286001" cy="28600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D1FF">
                    <a:alpha val="86000"/>
                  </a:srgbClr>
                </a:gs>
                <a:gs pos="50000">
                  <a:srgbClr val="001496">
                    <a:alpha val="86000"/>
                  </a:srgbClr>
                </a:gs>
                <a:gs pos="100000">
                  <a:srgbClr val="000F70">
                    <a:alpha val="86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839908" y="2165933"/>
            <a:ext cx="6608184" cy="6602071"/>
          </a:xfrm>
          <a:custGeom>
            <a:avLst/>
            <a:gdLst/>
            <a:ahLst/>
            <a:cxnLst/>
            <a:rect r="r" b="b" t="t" l="l"/>
            <a:pathLst>
              <a:path h="6602071" w="6608184">
                <a:moveTo>
                  <a:pt x="0" y="0"/>
                </a:moveTo>
                <a:lnTo>
                  <a:pt x="6608184" y="0"/>
                </a:lnTo>
                <a:lnTo>
                  <a:pt x="6608184" y="6602071"/>
                </a:lnTo>
                <a:lnTo>
                  <a:pt x="0" y="66020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86625" y="4588101"/>
            <a:ext cx="15093529" cy="1525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16"/>
              </a:lnSpc>
            </a:pPr>
            <a:r>
              <a:rPr lang="en-US" b="true" sz="10400" i="true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THANK 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496029" y="8806749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DAHCzsxN4mk</dc:identifier>
  <dcterms:modified xsi:type="dcterms:W3CDTF">2011-08-01T06:04:30Z</dcterms:modified>
  <cp:revision>1</cp:revision>
  <dc:title>Blue and White Modern Data Analysis Presentation</dc:title>
</cp:coreProperties>
</file>